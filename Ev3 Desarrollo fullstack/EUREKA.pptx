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2214FDF-56F5-4D43-BE5F-9ECEA4D137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82C6DC-D79C-4DEE-B935-38AE3870A5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E2F50E-48A5-4014-8A8E-7674F878D08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44D1CE-D1C0-4CEC-BA7C-1D3BBBB19E6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8DE85-9AB9-4B8A-A716-1C8CABACEF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AE102-6B7B-40F4-BB19-B3CDA4B54D5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A9D6F0-7EFB-479B-BAE2-E5AA3865F0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4C42EE-1679-42A4-AEE8-8A6D8784DE9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FD6E97-255E-4773-A3C0-3927B353C4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B0997F-A28B-4859-A6F0-996763E05B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6677-22CA-45D5-BE9A-FE040D1C670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FD37C3-020D-4448-83B4-3DE5A4ABA19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a_clean_modern_isometric_flat_vector_infographic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8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94360" y="685800"/>
            <a:ext cx="5348880" cy="5394600"/>
          </a:xfrm>
          <a:prstGeom prst="rect">
            <a:avLst/>
          </a:prstGeom>
          <a:solidFill>
            <a:srgbClr val="07162d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68680" y="987480"/>
            <a:ext cx="4480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Tema 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68680" y="1508760"/>
            <a:ext cx="45716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Eureka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868680" y="3063240"/>
            <a:ext cx="3383280" cy="360"/>
          </a:xfrm>
          <a:prstGeom prst="line">
            <a:avLst/>
          </a:prstGeom>
          <a:ln w="254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868680" y="3401640"/>
            <a:ext cx="4480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Registro y descubrimiento de microservicios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5166360"/>
            <a:ext cx="310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a8c7ff"/>
                </a:solidFill>
                <a:effectLst/>
                <a:uFillTx/>
                <a:latin typeface="Aptos"/>
              </a:rPr>
              <a:t>Clase modular por tema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Ruta de aprendizaje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La idea es entender primero el concepto y luego aplicarlo al proyecto.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 0" descr="/mnt/data/a_clean_modern_isometric_flat_vector_infographic.png"/>
          <p:cNvPicPr/>
          <p:nvPr/>
        </p:nvPicPr>
        <p:blipFill>
          <a:blip r:embed="rId1"/>
          <a:stretch/>
        </p:blipFill>
        <p:spPr>
          <a:xfrm>
            <a:off x="8275320" y="777240"/>
            <a:ext cx="3245760" cy="498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2"/>
          <p:cNvSpPr/>
          <p:nvPr/>
        </p:nvSpPr>
        <p:spPr>
          <a:xfrm>
            <a:off x="8275320" y="777240"/>
            <a:ext cx="3245760" cy="4983120"/>
          </a:xfrm>
          <a:prstGeom prst="rect">
            <a:avLst/>
          </a:prstGeom>
          <a:solidFill>
            <a:srgbClr val="10213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49880" y="14540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49880" y="15271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298520" y="14173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 de los puertos fijos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941760" y="187452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749880" y="223128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49880" y="230436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298520" y="219456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Qué es Eureka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941760" y="265176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/>
          <p:cNvSpPr/>
          <p:nvPr/>
        </p:nvSpPr>
        <p:spPr>
          <a:xfrm>
            <a:off x="749880" y="300852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749880" y="308160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1298520" y="297180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Cómo funciona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941760" y="342900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749880" y="378576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49880" y="385884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1298520" y="374904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Ejemplo visual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941760" y="420624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49880" y="456300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49880" y="463608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1298520" y="452628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Aplicación al proyecto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2"/>
          <p:cNvSpPr/>
          <p:nvPr/>
        </p:nvSpPr>
        <p:spPr>
          <a:xfrm>
            <a:off x="941760" y="4983480"/>
            <a:ext cx="360" cy="411480"/>
          </a:xfrm>
          <a:prstGeom prst="line">
            <a:avLst/>
          </a:prstGeom>
          <a:ln w="25400">
            <a:solidFill>
              <a:srgbClr val="2e7be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3"/>
          <p:cNvSpPr/>
          <p:nvPr/>
        </p:nvSpPr>
        <p:spPr>
          <a:xfrm>
            <a:off x="749880" y="5340240"/>
            <a:ext cx="383760" cy="383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49880" y="54133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5"/>
          <p:cNvSpPr/>
          <p:nvPr/>
        </p:nvSpPr>
        <p:spPr>
          <a:xfrm>
            <a:off x="1298520" y="5303520"/>
            <a:ext cx="5577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en navegador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El problema que resuelve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Antes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Cada servicio se conoce por una URL fija.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Ejemplo: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http://localhost:8081/clientes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Si cambia el puerto, todo falla.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Después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Cada servicio se registra con un nombre lógico.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Ejemplo: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CLIENTE-SERVICE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sistema lo encuentra automáticamente.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¿Qué es Eureka?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Definición simple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 es un servidor donde los microservicios se registran al iniciar.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Funciona como una agenda de servicios disponibles.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Para qué sirve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Permite que Gateway u otros servicios encuentren a un microservicio por su nombre, sin depender de IP o puerto fijo.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Cómo funciona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Eureka no reemplaza al microservicio; solo ayuda a encontrarlo.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"/>
          <p:cNvSpPr/>
          <p:nvPr/>
        </p:nvSpPr>
        <p:spPr>
          <a:xfrm>
            <a:off x="152712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408744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664776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5"/>
          <p:cNvSpPr/>
          <p:nvPr/>
        </p:nvSpPr>
        <p:spPr>
          <a:xfrm>
            <a:off x="9208080" y="3054240"/>
            <a:ext cx="1810080" cy="383760"/>
          </a:xfrm>
          <a:prstGeom prst="chevron">
            <a:avLst>
              <a:gd name="adj" fmla="val 50000"/>
            </a:avLst>
          </a:prstGeom>
          <a:solidFill>
            <a:srgbClr val="bfd7ff"/>
          </a:solidFill>
          <a:ln w="12700">
            <a:solidFill>
              <a:srgbClr val="bfd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480240" y="2148840"/>
            <a:ext cx="959760" cy="959760"/>
          </a:xfrm>
          <a:prstGeom prst="ellipse">
            <a:avLst/>
          </a:prstGeom>
          <a:solidFill>
            <a:srgbClr val="6b5dd3"/>
          </a:solidFill>
          <a:ln w="12700">
            <a:solidFill>
              <a:srgbClr val="6b5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48024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029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Inicia Eureka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5029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Servidor central en puerto 8761.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304056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304056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258768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Inicia servicio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258768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cliente-service levanta en 8081.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5600880" y="2148840"/>
            <a:ext cx="959760" cy="95976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60088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514800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Se registra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514800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CLIENTE-SERVICE aparece en Eureka.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8161200" y="2148840"/>
            <a:ext cx="959760" cy="959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816120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770832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Gateway consulta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770832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Gateway pide ubicación del servicio.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2"/>
          <p:cNvSpPr/>
          <p:nvPr/>
        </p:nvSpPr>
        <p:spPr>
          <a:xfrm>
            <a:off x="10721520" y="2148840"/>
            <a:ext cx="959760" cy="959760"/>
          </a:xfrm>
          <a:prstGeom prst="ellipse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10721520" y="2432160"/>
            <a:ext cx="959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10134360" y="345636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Redirige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10134360" y="3950280"/>
            <a:ext cx="1874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La petición llega al microservicio correcto.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7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Servidor Eureka: dependencia y anotación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// Clase principal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@SpringBootApplication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@EnableEurekaServer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public class EurekaServerApplication {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public static void main(String[] args) {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SpringApplication.run(EurekaServerApplication.class, args);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// application.yml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server: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port: 8761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Creamos un microservicio especial que actuará como registro central.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Ejecutar eureka-server.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Abrir: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http://localhost:8761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Microservicio cliente registrado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85360" y="859680"/>
            <a:ext cx="6949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4a5568"/>
                </a:solidFill>
                <a:effectLst/>
                <a:uFillTx/>
                <a:latin typeface="Aptos"/>
              </a:rPr>
              <a:t>De la teoría a nuestro proyecto de microservicios.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"/>
          <p:cNvSpPr/>
          <p:nvPr/>
        </p:nvSpPr>
        <p:spPr>
          <a:xfrm>
            <a:off x="658440" y="1508760"/>
            <a:ext cx="5440320" cy="4343040"/>
          </a:xfrm>
          <a:prstGeom prst="roundRect">
            <a:avLst>
              <a:gd name="adj" fmla="val 1263"/>
            </a:avLst>
          </a:prstGeom>
          <a:solidFill>
            <a:srgbClr val="111827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887040" y="1737360"/>
            <a:ext cx="498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spring: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application: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name: cliente-service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eureka: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client: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service-url: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f9fafb"/>
                </a:solidFill>
                <a:effectLst/>
                <a:uFillTx/>
                <a:latin typeface="Consolas"/>
                <a:ea typeface="Consolas"/>
              </a:rPr>
              <a:t>      defaultZone: http://localhost:8761/eureka/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6446520" y="1508760"/>
            <a:ext cx="5074560" cy="18741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6446520" y="1508760"/>
            <a:ext cx="5074560" cy="109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6675120" y="176472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¿Qué significa esto?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6675120" y="225864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Cada microservicio debe tener un nombre y la dirección del servidor Eureka.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8"/>
          <p:cNvSpPr/>
          <p:nvPr/>
        </p:nvSpPr>
        <p:spPr>
          <a:xfrm>
            <a:off x="6446520" y="3730680"/>
            <a:ext cx="507456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9"/>
          <p:cNvSpPr/>
          <p:nvPr/>
        </p:nvSpPr>
        <p:spPr>
          <a:xfrm>
            <a:off x="6446520" y="3730680"/>
            <a:ext cx="5074560" cy="109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6675120" y="3986640"/>
            <a:ext cx="4617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Comprobación práctica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6675120" y="4480560"/>
            <a:ext cx="4617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Al iniciar cliente-service, debe verse en la pantalla de Eureka como CLIENTE-SERVICE.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URL fija vs nombre lógico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685800" y="1325880"/>
            <a:ext cx="10835280" cy="3318840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685800" y="1325880"/>
            <a:ext cx="5417640" cy="685440"/>
          </a:xfrm>
          <a:prstGeom prst="rect">
            <a:avLst/>
          </a:prstGeom>
          <a:solidFill>
            <a:srgbClr val="10213f"/>
          </a:solidFill>
          <a:ln w="12700">
            <a:solidFill>
              <a:srgbClr val="1021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6103800" y="1325880"/>
            <a:ext cx="5417640" cy="68544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"/>
          <p:cNvSpPr/>
          <p:nvPr/>
        </p:nvSpPr>
        <p:spPr>
          <a:xfrm>
            <a:off x="914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Sin Eureka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6332400" y="1527120"/>
            <a:ext cx="4960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Con Eureka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685800" y="201168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6103440" y="2011680"/>
            <a:ext cx="360" cy="65808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914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http://localhost:8081/clientes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6332400" y="213048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lb://CLIENTE-SERVICE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6103440" y="266976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914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Depende del puerto exacto.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6332400" y="278892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Depende del nombre del servicio.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685800" y="3328560"/>
            <a:ext cx="10835280" cy="65808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6103440" y="332820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914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Si cambia la IP o puerto, hay que editar configuración.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6332400" y="344736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 actualiza la ubicación.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6103440" y="3986640"/>
            <a:ext cx="360" cy="65844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914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Sirve para demos pequeñas.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6332400" y="4105800"/>
            <a:ext cx="4960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Sirve para microservicios reales.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Cómo lo explicamos en clase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Analogía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 es como la recepción de un edificio.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No necesitas saber en qué oficina exacta está cada persona. Preguntas por el nombre y recepción te indica dónde está.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Aplicación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Gateway pregunta por CLIENTE-SERVICE, PRODUCTO-SERVICE o PEDIDO-SERVICE y Eureka entrega la ubicación disponible.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67000" y="347400"/>
            <a:ext cx="7497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0213f"/>
                </a:solidFill>
                <a:effectLst/>
                <a:uFillTx/>
                <a:latin typeface="Aptos Display"/>
                <a:ea typeface="Aptos Display"/>
              </a:rPr>
              <a:t>Errores frecuentes con Eureka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68580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685800" y="1417320"/>
            <a:ext cx="91080" cy="4297320"/>
          </a:xfrm>
          <a:prstGeom prst="rect">
            <a:avLst/>
          </a:prstGeom>
          <a:solidFill>
            <a:srgbClr val="2e7bef"/>
          </a:solidFill>
          <a:ln w="12700">
            <a:solidFill>
              <a:srgbClr val="2e7b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100584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Problema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00584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Eureka no está iniciado.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nombre del servicio está mal escrito.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puerto 8761 está ocupado.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El microservicio no tiene dependencia Eureka Client.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6263640" y="1417320"/>
            <a:ext cx="5257440" cy="42973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2f3"/>
            </a:solidFill>
            <a:round/>
          </a:ln>
          <a:effectLst>
            <a:outerShdw algn="bl" blurRad="25560" dir="2700000" dist="12218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6263640" y="1417320"/>
            <a:ext cx="91080" cy="4297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6583680" y="1710000"/>
            <a:ext cx="4663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0213f"/>
                </a:solidFill>
                <a:effectLst/>
                <a:uFillTx/>
                <a:latin typeface="Aptos"/>
              </a:rPr>
              <a:t>Solución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6583680" y="2277000"/>
            <a:ext cx="46630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Iniciar primero Eureka.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Revisar spring.application.name.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Ver consola y application.yml.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1827"/>
                </a:solidFill>
                <a:effectLst/>
                <a:uFillTx/>
                <a:latin typeface="Aptos"/>
              </a:rPr>
              <a:t>Confirmar pom.xml.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502920" y="647388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Desarrollo Fullstack I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7543800" y="6473880"/>
            <a:ext cx="4160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7a8497"/>
                </a:solidFill>
                <a:effectLst/>
                <a:uFillTx/>
                <a:latin typeface="Aptos"/>
                <a:ea typeface="Aptos"/>
              </a:rPr>
              <a:t>Material docente - microservicios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Image 0" descr="/mnt/data/a_clean_modern_classroom_lecture_scene_in_a_wide.png"/>
          <p:cNvPicPr/>
          <p:nvPr/>
        </p:nvPicPr>
        <p:blipFill>
          <a:blip r:embed="rId1"/>
          <a:srcRect l="54993" t="49994" r="-55045" b="-4999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7162d">
              <a:alpha val="82000"/>
            </a:srgbClr>
          </a:solidFill>
          <a:ln w="12700">
            <a:solidFill>
              <a:srgbClr val="07162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685800" y="822960"/>
            <a:ext cx="5531760" cy="5257440"/>
          </a:xfrm>
          <a:prstGeom prst="roundRect">
            <a:avLst>
              <a:gd name="adj" fmla="val 1391"/>
            </a:avLst>
          </a:prstGeom>
          <a:solidFill>
            <a:srgbClr val="07162d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987480" y="1143000"/>
            <a:ext cx="4937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Cierre: Eureka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1005840" y="2057400"/>
            <a:ext cx="480024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Eureka permite descubrir servicios por nombre.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Es el paso intermedio antes de usar Gateway dinámico.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900" strike="noStrike" u="none">
                <a:solidFill>
                  <a:srgbClr val="e7eefd"/>
                </a:solidFill>
                <a:effectLst/>
                <a:uFillTx/>
                <a:latin typeface="Aptos"/>
              </a:rPr>
              <a:t>La evidencia práctica es ver los servicios registrados en http://localhost:8761.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Duoc UC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2026-06-02T01:12:45Z</dcterms:created>
  <dc:creator>Material docente Fullstack I</dc:creator>
  <dc:description/>
  <dc:language>en-US</dc:language>
  <cp:lastModifiedBy>Material docente Fullstack I</cp:lastModifiedBy>
  <dcterms:modified xsi:type="dcterms:W3CDTF">2026-06-02T01:12:45Z</dcterms:modified>
  <cp:revision>1</cp:revision>
  <dc:subject>Eureka Service Discovery</dc:subject>
  <dc:title>Eureka Service Discovery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