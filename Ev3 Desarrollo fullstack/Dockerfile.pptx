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7559675" cy="10691813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600C6D-4100-48E0-8597-55DEACB40F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2E941E-889C-47E1-B75D-62EFC2ADAE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884FBF-2F53-4BE2-A8FF-888459E61D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8AE35F-8613-4350-9738-0F43EF3A70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015367-97D4-44CA-A664-D4530E9A76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88F793-9A9E-44F0-AAD4-51CB99A663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246D26-7D87-4731-AA9C-CB0FD0C77F3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8B55AA-8359-4DF2-B661-7F63620E78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501CD33-B254-46A6-97A4-0CFC74C820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26A753-6E6B-47B3-8581-56D6746FEBC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4A5417-9044-46E5-9659-BE69242EAED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1668D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502920" y="29268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91F3D"/>
                </a:solidFill>
                <a:effectLst/>
                <a:uFillTx/>
                <a:latin typeface="Calibri"/>
              </a:rPr>
              <a:t>Dockerfile: empaquetar un microservicio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530280" y="822960"/>
            <a:ext cx="107895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De una aplicación Spring Boot a un contenedor Docker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Picture 4" descr="wide_clean_vector_infographic_slide_style_image_on.png"/>
          <p:cNvPicPr/>
          <p:nvPr/>
        </p:nvPicPr>
        <p:blipFill>
          <a:blip r:embed="rId2"/>
          <a:stretch/>
        </p:blipFill>
        <p:spPr>
          <a:xfrm>
            <a:off x="1548931" y="1298395"/>
            <a:ext cx="9063297" cy="514812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Box 5"/>
          <p:cNvSpPr/>
          <p:nvPr/>
        </p:nvSpPr>
        <p:spPr>
          <a:xfrm>
            <a:off x="10835640" y="644652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1/6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1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1668D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502920" y="29268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91F3D"/>
                </a:solidFill>
                <a:effectLst/>
                <a:uFillTx/>
                <a:latin typeface="Calibri"/>
              </a:rPr>
              <a:t>1. ¿Qué es un Dockerfile?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3"/>
          <p:cNvSpPr/>
          <p:nvPr/>
        </p:nvSpPr>
        <p:spPr>
          <a:xfrm>
            <a:off x="530280" y="822960"/>
            <a:ext cx="107895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Una receta que Docker utiliza para construir una imagen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ounded Rectangle 4"/>
          <p:cNvSpPr/>
          <p:nvPr/>
        </p:nvSpPr>
        <p:spPr>
          <a:xfrm>
            <a:off x="640080" y="1325880"/>
            <a:ext cx="3657240" cy="4297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2E1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713160" rIns="182880" bIns="45000" anchor="ctr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No es el contenedor todavía.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Indica qué base usar, qué copiar y qué ejecutar.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A partir de esa receta se crea una imagen Docker.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Luego la imagen se ejecuta como contenedor.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ounded Rectangle 5"/>
          <p:cNvSpPr/>
          <p:nvPr/>
        </p:nvSpPr>
        <p:spPr>
          <a:xfrm>
            <a:off x="749880" y="1435680"/>
            <a:ext cx="3437640" cy="438480"/>
          </a:xfrm>
          <a:prstGeom prst="roundRect">
            <a:avLst>
              <a:gd name="adj" fmla="val 16667"/>
            </a:avLst>
          </a:prstGeom>
          <a:solidFill>
            <a:srgbClr val="1668D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Idea simple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6"/>
          <p:cNvSpPr/>
          <p:nvPr/>
        </p:nvSpPr>
        <p:spPr>
          <a:xfrm>
            <a:off x="4754880" y="2103120"/>
            <a:ext cx="1874160" cy="1234080"/>
          </a:xfrm>
          <a:prstGeom prst="roundRect">
            <a:avLst>
              <a:gd name="adj" fmla="val 16667"/>
            </a:avLst>
          </a:prstGeom>
          <a:solidFill>
            <a:srgbClr val="1668D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Dockerfile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Receta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ight Arrow 7"/>
          <p:cNvSpPr/>
          <p:nvPr/>
        </p:nvSpPr>
        <p:spPr>
          <a:xfrm>
            <a:off x="6675120" y="2450520"/>
            <a:ext cx="456840" cy="502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697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Rounded Rectangle 8"/>
          <p:cNvSpPr/>
          <p:nvPr/>
        </p:nvSpPr>
        <p:spPr>
          <a:xfrm>
            <a:off x="7086600" y="2103120"/>
            <a:ext cx="1874160" cy="1234080"/>
          </a:xfrm>
          <a:prstGeom prst="roundRect">
            <a:avLst>
              <a:gd name="adj" fmla="val 16667"/>
            </a:avLst>
          </a:prstGeom>
          <a:solidFill>
            <a:srgbClr val="1668D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Imagen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Plantilla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Right Arrow 9"/>
          <p:cNvSpPr/>
          <p:nvPr/>
        </p:nvSpPr>
        <p:spPr>
          <a:xfrm>
            <a:off x="9006840" y="2450520"/>
            <a:ext cx="456840" cy="502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697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ounded Rectangle 10"/>
          <p:cNvSpPr/>
          <p:nvPr/>
        </p:nvSpPr>
        <p:spPr>
          <a:xfrm>
            <a:off x="9418320" y="2103120"/>
            <a:ext cx="1874160" cy="1234080"/>
          </a:xfrm>
          <a:prstGeom prst="roundRect">
            <a:avLst>
              <a:gd name="adj" fmla="val 16667"/>
            </a:avLst>
          </a:prstGeom>
          <a:solidFill>
            <a:srgbClr val="0096A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Contenedor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Ejecución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11"/>
          <p:cNvSpPr/>
          <p:nvPr/>
        </p:nvSpPr>
        <p:spPr>
          <a:xfrm>
            <a:off x="4892040" y="4069080"/>
            <a:ext cx="612612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2E1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713160" rIns="182880" bIns="45000" anchor="ctr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El Dockerfile prepara el entorno; el contenedor ejecuta el microservicio.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12"/>
          <p:cNvSpPr/>
          <p:nvPr/>
        </p:nvSpPr>
        <p:spPr>
          <a:xfrm>
            <a:off x="5001840" y="4178880"/>
            <a:ext cx="5906520" cy="438480"/>
          </a:xfrm>
          <a:prstGeom prst="roundRect">
            <a:avLst>
              <a:gd name="adj" fmla="val 16667"/>
            </a:avLst>
          </a:prstGeom>
          <a:solidFill>
            <a:srgbClr val="4BAF5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Frase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para la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clase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3"/>
          <p:cNvSpPr/>
          <p:nvPr/>
        </p:nvSpPr>
        <p:spPr>
          <a:xfrm>
            <a:off x="10835640" y="644652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2/6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1668D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502920" y="29268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91F3D"/>
                </a:solidFill>
                <a:effectLst/>
                <a:uFillTx/>
                <a:latin typeface="Calibri"/>
              </a:rPr>
              <a:t>2. El Dockerfile del microservicio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530280" y="822960"/>
            <a:ext cx="107895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Código mínimo para ejecutar un JAR Spring Boot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4"/>
          <p:cNvSpPr/>
          <p:nvPr/>
        </p:nvSpPr>
        <p:spPr>
          <a:xfrm>
            <a:off x="640080" y="1371600"/>
            <a:ext cx="5257440" cy="3474360"/>
          </a:xfrm>
          <a:prstGeom prst="roundRect">
            <a:avLst>
              <a:gd name="adj" fmla="val 16667"/>
            </a:avLst>
          </a:prstGeom>
          <a:solidFill>
            <a:srgbClr val="141F2B"/>
          </a:solidFill>
          <a:ln>
            <a:solidFill>
              <a:srgbClr val="465A6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2286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EBF5FF"/>
                </a:solidFill>
                <a:effectLst/>
                <a:uFillTx/>
                <a:latin typeface="Consolas"/>
              </a:rPr>
              <a:t>FROM eclipse-temurin:21-jre-alpine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EBF5FF"/>
                </a:solidFill>
                <a:effectLst/>
                <a:uFillTx/>
                <a:latin typeface="Consolas"/>
              </a:rPr>
              <a:t>WORKDIR /app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EBF5FF"/>
                </a:solidFill>
                <a:effectLst/>
                <a:uFillTx/>
                <a:latin typeface="Consolas"/>
              </a:rPr>
              <a:t>COPY target/*.jar app.jar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EBF5FF"/>
                </a:solidFill>
                <a:effectLst/>
                <a:uFillTx/>
                <a:latin typeface="Consolas"/>
              </a:rPr>
              <a:t>EXPOSE 8081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EBF5FF"/>
                </a:solidFill>
                <a:effectLst/>
                <a:uFillTx/>
                <a:latin typeface="Consolas"/>
              </a:rPr>
              <a:t>ENTRYPOINT ["java", "-jar", "app.jar"]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5"/>
          <p:cNvSpPr/>
          <p:nvPr/>
        </p:nvSpPr>
        <p:spPr>
          <a:xfrm>
            <a:off x="6172200" y="1234440"/>
            <a:ext cx="5348880" cy="4571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2E1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713160" rIns="182880" bIns="45000" anchor="ctr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FROM: base Linux liviana con Java 21.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WORKDIR: carpeta interna del contenedor.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COPY: copia el JAR generado por Maven.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EXPOSE: documenta el puerto del servicio.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ENTRYPOINT: comando que inicia Spring Boot.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6"/>
          <p:cNvSpPr/>
          <p:nvPr/>
        </p:nvSpPr>
        <p:spPr>
          <a:xfrm>
            <a:off x="6282000" y="1344240"/>
            <a:ext cx="5129280" cy="438480"/>
          </a:xfrm>
          <a:prstGeom prst="roundRect">
            <a:avLst>
              <a:gd name="adj" fmla="val 16667"/>
            </a:avLst>
          </a:prstGeom>
          <a:solidFill>
            <a:srgbClr val="0096A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Lectura rápida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7"/>
          <p:cNvSpPr/>
          <p:nvPr/>
        </p:nvSpPr>
        <p:spPr>
          <a:xfrm>
            <a:off x="10835640" y="644652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3/6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1668D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502920" y="29268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91F3D"/>
                </a:solidFill>
                <a:effectLst/>
                <a:uFillTx/>
                <a:latin typeface="Calibri"/>
              </a:rPr>
              <a:t>3. Ejecución lógica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530280" y="822960"/>
            <a:ext cx="107895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Qué ocurre desde el código hasta el contenedor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Oval 4"/>
          <p:cNvSpPr/>
          <p:nvPr/>
        </p:nvSpPr>
        <p:spPr>
          <a:xfrm>
            <a:off x="685800" y="1828800"/>
            <a:ext cx="685440" cy="685440"/>
          </a:xfrm>
          <a:prstGeom prst="ellipse">
            <a:avLst/>
          </a:prstGeom>
          <a:solidFill>
            <a:srgbClr val="1668D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5"/>
          <p:cNvSpPr/>
          <p:nvPr/>
        </p:nvSpPr>
        <p:spPr>
          <a:xfrm>
            <a:off x="640080" y="2743200"/>
            <a:ext cx="23313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DDC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91F3D"/>
                </a:solidFill>
                <a:effectLst/>
                <a:uFillTx/>
                <a:latin typeface="Calibri"/>
              </a:rPr>
              <a:t>mvn package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Genera el archivo .jar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ight Arrow 6"/>
          <p:cNvSpPr/>
          <p:nvPr/>
        </p:nvSpPr>
        <p:spPr>
          <a:xfrm>
            <a:off x="2999160" y="3154680"/>
            <a:ext cx="41112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697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Oval 7"/>
          <p:cNvSpPr/>
          <p:nvPr/>
        </p:nvSpPr>
        <p:spPr>
          <a:xfrm>
            <a:off x="3566160" y="1828800"/>
            <a:ext cx="685440" cy="685440"/>
          </a:xfrm>
          <a:prstGeom prst="ellipse">
            <a:avLst/>
          </a:prstGeom>
          <a:solidFill>
            <a:srgbClr val="1668D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8"/>
          <p:cNvSpPr/>
          <p:nvPr/>
        </p:nvSpPr>
        <p:spPr>
          <a:xfrm>
            <a:off x="3520440" y="2743200"/>
            <a:ext cx="23313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DDC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91F3D"/>
                </a:solidFill>
                <a:effectLst/>
                <a:uFillTx/>
                <a:latin typeface="Calibri"/>
              </a:rPr>
              <a:t>docker build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Crea la imagen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ight Arrow 9"/>
          <p:cNvSpPr/>
          <p:nvPr/>
        </p:nvSpPr>
        <p:spPr>
          <a:xfrm>
            <a:off x="5879520" y="3154680"/>
            <a:ext cx="41112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697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Oval 10"/>
          <p:cNvSpPr/>
          <p:nvPr/>
        </p:nvSpPr>
        <p:spPr>
          <a:xfrm>
            <a:off x="6446520" y="1828800"/>
            <a:ext cx="685440" cy="685440"/>
          </a:xfrm>
          <a:prstGeom prst="ellipse">
            <a:avLst/>
          </a:prstGeom>
          <a:solidFill>
            <a:srgbClr val="0096A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11"/>
          <p:cNvSpPr/>
          <p:nvPr/>
        </p:nvSpPr>
        <p:spPr>
          <a:xfrm>
            <a:off x="6400800" y="2743200"/>
            <a:ext cx="23313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DDC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91F3D"/>
                </a:solidFill>
                <a:effectLst/>
                <a:uFillTx/>
                <a:latin typeface="Calibri"/>
              </a:rPr>
              <a:t>docker run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Levanta el contenedor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ight Arrow 12"/>
          <p:cNvSpPr/>
          <p:nvPr/>
        </p:nvSpPr>
        <p:spPr>
          <a:xfrm>
            <a:off x="8759880" y="3154680"/>
            <a:ext cx="41112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697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Oval 13"/>
          <p:cNvSpPr/>
          <p:nvPr/>
        </p:nvSpPr>
        <p:spPr>
          <a:xfrm>
            <a:off x="9326880" y="1828800"/>
            <a:ext cx="685440" cy="685440"/>
          </a:xfrm>
          <a:prstGeom prst="ellipse">
            <a:avLst/>
          </a:prstGeom>
          <a:solidFill>
            <a:srgbClr val="0096A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14"/>
          <p:cNvSpPr/>
          <p:nvPr/>
        </p:nvSpPr>
        <p:spPr>
          <a:xfrm>
            <a:off x="9281160" y="2743200"/>
            <a:ext cx="23313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DDC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91F3D"/>
                </a:solidFill>
                <a:effectLst/>
                <a:uFillTx/>
                <a:latin typeface="Calibri"/>
              </a:rPr>
              <a:t>java -jar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Inicia Spring Boot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15"/>
          <p:cNvSpPr/>
          <p:nvPr/>
        </p:nvSpPr>
        <p:spPr>
          <a:xfrm>
            <a:off x="1051560" y="5074920"/>
            <a:ext cx="10058040" cy="96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2E1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697680" rIns="182880" bIns="29520" anchor="ctr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 dirty="0">
                <a:solidFill>
                  <a:srgbClr val="1E2A37"/>
                </a:solidFill>
                <a:effectLst/>
                <a:uFillTx/>
                <a:latin typeface="Calibri"/>
              </a:rPr>
              <a:t>El </a:t>
            </a:r>
            <a:r>
              <a:rPr lang="en-US" sz="1400" b="1" u="none" strike="noStrike" dirty="0" err="1">
                <a:solidFill>
                  <a:srgbClr val="1E2A37"/>
                </a:solidFill>
                <a:effectLst/>
                <a:uFillTx/>
                <a:latin typeface="Calibri"/>
              </a:rPr>
              <a:t>microservicio</a:t>
            </a:r>
            <a:r>
              <a:rPr lang="en-US" sz="1400" b="1" u="none" strike="noStrike" dirty="0">
                <a:solidFill>
                  <a:srgbClr val="1E2A37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1E2A37"/>
                </a:solidFill>
                <a:effectLst/>
                <a:uFillTx/>
                <a:latin typeface="Calibri"/>
              </a:rPr>
              <a:t>queda</a:t>
            </a:r>
            <a:r>
              <a:rPr lang="en-US" sz="1400" b="1" u="none" strike="noStrike" dirty="0">
                <a:solidFill>
                  <a:srgbClr val="1E2A37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1E2A37"/>
                </a:solidFill>
                <a:effectLst/>
                <a:uFillTx/>
                <a:latin typeface="Calibri"/>
              </a:rPr>
              <a:t>empaquetado</a:t>
            </a:r>
            <a:r>
              <a:rPr lang="en-US" sz="1400" b="1" u="none" strike="noStrike" dirty="0">
                <a:solidFill>
                  <a:srgbClr val="1E2A37"/>
                </a:solidFill>
                <a:effectLst/>
                <a:uFillTx/>
                <a:latin typeface="Calibri"/>
              </a:rPr>
              <a:t> con </a:t>
            </a:r>
            <a:r>
              <a:rPr lang="en-US" sz="1400" b="1" u="none" strike="noStrike" dirty="0" err="1">
                <a:solidFill>
                  <a:srgbClr val="1E2A37"/>
                </a:solidFill>
                <a:effectLst/>
                <a:uFillTx/>
                <a:latin typeface="Calibri"/>
              </a:rPr>
              <a:t>su</a:t>
            </a:r>
            <a:r>
              <a:rPr lang="en-US" sz="1400" b="1" u="none" strike="noStrike" dirty="0">
                <a:solidFill>
                  <a:srgbClr val="1E2A37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1E2A37"/>
                </a:solidFill>
                <a:effectLst/>
                <a:uFillTx/>
                <a:latin typeface="Calibri"/>
              </a:rPr>
              <a:t>entorno</a:t>
            </a:r>
            <a:r>
              <a:rPr lang="en-US" sz="1400" b="1" u="none" strike="noStrike" dirty="0">
                <a:solidFill>
                  <a:srgbClr val="1E2A37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1E2A37"/>
                </a:solidFill>
                <a:effectLst/>
                <a:uFillTx/>
                <a:latin typeface="Calibri"/>
              </a:rPr>
              <a:t>mínimo</a:t>
            </a:r>
            <a:r>
              <a:rPr lang="en-US" sz="1400" b="1" u="none" strike="noStrike" dirty="0">
                <a:solidFill>
                  <a:srgbClr val="1E2A37"/>
                </a:solidFill>
                <a:effectLst/>
                <a:uFillTx/>
                <a:latin typeface="Calibri"/>
              </a:rPr>
              <a:t> de </a:t>
            </a:r>
            <a:r>
              <a:rPr lang="en-US" sz="1400" b="1" u="none" strike="noStrike" dirty="0" err="1">
                <a:solidFill>
                  <a:srgbClr val="1E2A37"/>
                </a:solidFill>
                <a:effectLst/>
                <a:uFillTx/>
                <a:latin typeface="Calibri"/>
              </a:rPr>
              <a:t>ejecución</a:t>
            </a:r>
            <a:r>
              <a:rPr lang="en-US" sz="1400" b="1" u="none" strike="noStrike" dirty="0">
                <a:solidFill>
                  <a:srgbClr val="1E2A37"/>
                </a:solidFill>
                <a:effectLst/>
                <a:uFillTx/>
                <a:latin typeface="Calibri"/>
              </a:rPr>
              <a:t> y </a:t>
            </a:r>
            <a:r>
              <a:rPr lang="en-US" sz="1400" b="1" u="none" strike="noStrike" dirty="0" err="1">
                <a:solidFill>
                  <a:srgbClr val="1E2A37"/>
                </a:solidFill>
                <a:effectLst/>
                <a:uFillTx/>
                <a:latin typeface="Calibri"/>
              </a:rPr>
              <a:t>puede</a:t>
            </a:r>
            <a:r>
              <a:rPr lang="en-US" sz="1400" b="1" u="none" strike="noStrike" dirty="0">
                <a:solidFill>
                  <a:srgbClr val="1E2A37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1E2A37"/>
                </a:solidFill>
                <a:effectLst/>
                <a:uFillTx/>
                <a:latin typeface="Calibri"/>
              </a:rPr>
              <a:t>iniciarse</a:t>
            </a:r>
            <a:r>
              <a:rPr lang="en-US" sz="1400" b="1" u="none" strike="noStrike" dirty="0">
                <a:solidFill>
                  <a:srgbClr val="1E2A37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1E2A37"/>
                </a:solidFill>
                <a:effectLst/>
                <a:uFillTx/>
                <a:latin typeface="Calibri"/>
              </a:rPr>
              <a:t>igual</a:t>
            </a:r>
            <a:r>
              <a:rPr lang="en-US" sz="1400" b="1" u="none" strike="noStrike" dirty="0">
                <a:solidFill>
                  <a:srgbClr val="1E2A37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1E2A37"/>
                </a:solidFill>
                <a:effectLst/>
                <a:uFillTx/>
                <a:latin typeface="Calibri"/>
              </a:rPr>
              <a:t>en</a:t>
            </a:r>
            <a:r>
              <a:rPr lang="en-US" sz="1400" b="1" u="none" strike="noStrike" dirty="0">
                <a:solidFill>
                  <a:srgbClr val="1E2A37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1E2A37"/>
                </a:solidFill>
                <a:effectLst/>
                <a:uFillTx/>
                <a:latin typeface="Calibri"/>
              </a:rPr>
              <a:t>cualquier</a:t>
            </a:r>
            <a:r>
              <a:rPr lang="en-US" sz="1400" b="1" u="none" strike="noStrike" dirty="0">
                <a:solidFill>
                  <a:srgbClr val="1E2A37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1E2A37"/>
                </a:solidFill>
                <a:effectLst/>
                <a:uFillTx/>
                <a:latin typeface="Calibri"/>
              </a:rPr>
              <a:t>equipo</a:t>
            </a:r>
            <a:r>
              <a:rPr lang="en-US" sz="1400" b="1" u="none" strike="noStrike" dirty="0">
                <a:solidFill>
                  <a:srgbClr val="1E2A37"/>
                </a:solidFill>
                <a:effectLst/>
                <a:uFillTx/>
                <a:latin typeface="Calibri"/>
              </a:rPr>
              <a:t> con Docker.</a:t>
            </a:r>
            <a:endParaRPr lang="en-US" sz="14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16"/>
          <p:cNvSpPr/>
          <p:nvPr/>
        </p:nvSpPr>
        <p:spPr>
          <a:xfrm>
            <a:off x="1161360" y="5184720"/>
            <a:ext cx="9838440" cy="438480"/>
          </a:xfrm>
          <a:prstGeom prst="roundRect">
            <a:avLst>
              <a:gd name="adj" fmla="val 16667"/>
            </a:avLst>
          </a:prstGeom>
          <a:solidFill>
            <a:srgbClr val="4BAF5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Resultado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7"/>
          <p:cNvSpPr/>
          <p:nvPr/>
        </p:nvSpPr>
        <p:spPr>
          <a:xfrm>
            <a:off x="10835640" y="644652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4/6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1668D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502920" y="29268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91F3D"/>
                </a:solidFill>
                <a:effectLst/>
                <a:uFillTx/>
                <a:latin typeface="Calibri"/>
              </a:rPr>
              <a:t>4. Ejemplo: cliente-service dentro de Docker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530280" y="822960"/>
            <a:ext cx="107895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El JAR queda dentro de un contenedor aislado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4" descr="a_clean_vector_style_infographic_diagram_on_a_whi.png"/>
          <p:cNvPicPr/>
          <p:nvPr/>
        </p:nvPicPr>
        <p:blipFill>
          <a:blip r:embed="rId2"/>
          <a:stretch/>
        </p:blipFill>
        <p:spPr>
          <a:xfrm>
            <a:off x="502920" y="1143000"/>
            <a:ext cx="6629040" cy="373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Rounded Rectangle 5"/>
          <p:cNvSpPr/>
          <p:nvPr/>
        </p:nvSpPr>
        <p:spPr>
          <a:xfrm>
            <a:off x="7360920" y="1234440"/>
            <a:ext cx="4160160" cy="448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2E1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713160" rIns="182880" bIns="45000" anchor="ctr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El servicio escucha en el puerto 8081.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El JAR queda copiado como /app/app.jar.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Docker ejecuta: java -jar app.jar.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El contenedor queda aislado, pero accesible por el puerto publicado.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6"/>
          <p:cNvSpPr/>
          <p:nvPr/>
        </p:nvSpPr>
        <p:spPr>
          <a:xfrm>
            <a:off x="7470720" y="1344240"/>
            <a:ext cx="3940560" cy="438480"/>
          </a:xfrm>
          <a:prstGeom prst="roundRect">
            <a:avLst>
              <a:gd name="adj" fmla="val 16667"/>
            </a:avLst>
          </a:prstGeom>
          <a:solidFill>
            <a:srgbClr val="1668D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Ejemplo cliente-service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Rounded Rectangle 7"/>
          <p:cNvSpPr/>
          <p:nvPr/>
        </p:nvSpPr>
        <p:spPr>
          <a:xfrm>
            <a:off x="7360920" y="5532120"/>
            <a:ext cx="4160160" cy="502560"/>
          </a:xfrm>
          <a:prstGeom prst="roundRect">
            <a:avLst>
              <a:gd name="adj" fmla="val 16667"/>
            </a:avLst>
          </a:prstGeom>
          <a:solidFill>
            <a:srgbClr val="141F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docker build  →  docker run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8"/>
          <p:cNvSpPr/>
          <p:nvPr/>
        </p:nvSpPr>
        <p:spPr>
          <a:xfrm>
            <a:off x="10835640" y="644652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5/6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1668D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502920" y="29268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91F3D"/>
                </a:solidFill>
                <a:effectLst/>
                <a:uFillTx/>
                <a:latin typeface="Calibri"/>
              </a:rPr>
              <a:t>5. Cierre: Dockerfile en el proyecto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530280" y="822960"/>
            <a:ext cx="107895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Cada microservicio tiene su propia receta de empaquetado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4"/>
          <p:cNvSpPr/>
          <p:nvPr/>
        </p:nvSpPr>
        <p:spPr>
          <a:xfrm>
            <a:off x="640080" y="1234440"/>
            <a:ext cx="5303160" cy="3822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2E1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713160" rIns="182880" bIns="45000" anchor="ctr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Cada microservicio tiene un Dockerfile.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Docker crea una imagen por servicio.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Docker Compose levanta todos los contenedores juntos.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Eureka, Gateway y microservicios quedan ejecutándose como contenedores.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5"/>
          <p:cNvSpPr/>
          <p:nvPr/>
        </p:nvSpPr>
        <p:spPr>
          <a:xfrm>
            <a:off x="749880" y="1344240"/>
            <a:ext cx="5083560" cy="438480"/>
          </a:xfrm>
          <a:prstGeom prst="roundRect">
            <a:avLst>
              <a:gd name="adj" fmla="val 16667"/>
            </a:avLst>
          </a:prstGeom>
          <a:solidFill>
            <a:srgbClr val="0096A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En esta etapa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6"/>
          <p:cNvSpPr/>
          <p:nvPr/>
        </p:nvSpPr>
        <p:spPr>
          <a:xfrm>
            <a:off x="6400800" y="1234440"/>
            <a:ext cx="5120280" cy="3822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CDDC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040" tIns="27432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91F3D"/>
                </a:solidFill>
                <a:effectLst/>
                <a:uFillTx/>
                <a:latin typeface="Calibri"/>
              </a:rPr>
              <a:t>Contenedores esperados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▸ eureka-server:8761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▸ gateway-service:8080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▸ cliente-service:8081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▸ producto-service:8082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▸ pedido-service:8083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▸ pago-service:8084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500" b="0" u="none" strike="noStrike">
                <a:solidFill>
                  <a:srgbClr val="1E2A37"/>
                </a:solidFill>
                <a:effectLst/>
                <a:uFillTx/>
                <a:latin typeface="Calibri"/>
              </a:rPr>
              <a:t>▸ despacho-service:8085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7"/>
          <p:cNvSpPr/>
          <p:nvPr/>
        </p:nvSpPr>
        <p:spPr>
          <a:xfrm>
            <a:off x="1044014" y="5472720"/>
            <a:ext cx="9966600" cy="973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2E1F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574200" rIns="182880" bIns="-93960" anchor="ctr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 dirty="0" err="1">
                <a:solidFill>
                  <a:srgbClr val="1E2A37"/>
                </a:solidFill>
                <a:effectLst/>
                <a:uFillTx/>
                <a:latin typeface="Calibri"/>
              </a:rPr>
              <a:t>Dockerfile</a:t>
            </a:r>
            <a:r>
              <a:rPr lang="en-US" sz="1400" b="1" u="none" strike="noStrike" dirty="0">
                <a:solidFill>
                  <a:srgbClr val="1E2A37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1E2A37"/>
                </a:solidFill>
                <a:effectLst/>
                <a:uFillTx/>
                <a:latin typeface="Calibri"/>
              </a:rPr>
              <a:t>empaqueta</a:t>
            </a:r>
            <a:r>
              <a:rPr lang="en-US" sz="1400" b="1" u="none" strike="noStrike" dirty="0">
                <a:solidFill>
                  <a:srgbClr val="1E2A37"/>
                </a:solidFill>
                <a:effectLst/>
                <a:uFillTx/>
                <a:latin typeface="Calibri"/>
              </a:rPr>
              <a:t> un </a:t>
            </a:r>
            <a:r>
              <a:rPr lang="en-US" sz="1400" b="1" u="none" strike="noStrike" dirty="0" err="1">
                <a:solidFill>
                  <a:srgbClr val="1E2A37"/>
                </a:solidFill>
                <a:effectLst/>
                <a:uFillTx/>
                <a:latin typeface="Calibri"/>
              </a:rPr>
              <a:t>servicio</a:t>
            </a:r>
            <a:r>
              <a:rPr lang="en-US" sz="1400" b="1" u="none" strike="noStrike" dirty="0">
                <a:solidFill>
                  <a:srgbClr val="1E2A37"/>
                </a:solidFill>
                <a:effectLst/>
                <a:uFillTx/>
                <a:latin typeface="Calibri"/>
              </a:rPr>
              <a:t>. Docker Compose </a:t>
            </a:r>
            <a:r>
              <a:rPr lang="en-US" sz="1400" b="1" u="none" strike="noStrike" dirty="0" err="1">
                <a:solidFill>
                  <a:srgbClr val="1E2A37"/>
                </a:solidFill>
                <a:effectLst/>
                <a:uFillTx/>
                <a:latin typeface="Calibri"/>
              </a:rPr>
              <a:t>coordina</a:t>
            </a:r>
            <a:r>
              <a:rPr lang="en-US" sz="1400" b="1" u="none" strike="noStrike" dirty="0">
                <a:solidFill>
                  <a:srgbClr val="1E2A37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1E2A37"/>
                </a:solidFill>
                <a:effectLst/>
                <a:uFillTx/>
                <a:latin typeface="Calibri"/>
              </a:rPr>
              <a:t>varios</a:t>
            </a:r>
            <a:r>
              <a:rPr lang="en-US" sz="1400" b="1" u="none" strike="noStrike" dirty="0">
                <a:solidFill>
                  <a:srgbClr val="1E2A37"/>
                </a:solidFill>
                <a:effectLst/>
                <a:uFillTx/>
                <a:latin typeface="Calibri"/>
              </a:rPr>
              <a:t> </a:t>
            </a:r>
            <a:r>
              <a:rPr lang="en-US" sz="1400" b="1" u="none" strike="noStrike" dirty="0" err="1">
                <a:solidFill>
                  <a:srgbClr val="1E2A37"/>
                </a:solidFill>
                <a:effectLst/>
                <a:uFillTx/>
                <a:latin typeface="Calibri"/>
              </a:rPr>
              <a:t>servicios</a:t>
            </a:r>
            <a:r>
              <a:rPr lang="en-US" sz="1400" b="1" u="none" strike="noStrike" dirty="0">
                <a:solidFill>
                  <a:srgbClr val="1E2A37"/>
                </a:solidFill>
                <a:effectLst/>
                <a:uFillTx/>
                <a:latin typeface="Calibri"/>
              </a:rPr>
              <a:t>.</a:t>
            </a:r>
            <a:endParaRPr lang="en-US" sz="14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8"/>
          <p:cNvSpPr/>
          <p:nvPr/>
        </p:nvSpPr>
        <p:spPr>
          <a:xfrm>
            <a:off x="1153814" y="5582520"/>
            <a:ext cx="9747000" cy="438480"/>
          </a:xfrm>
          <a:prstGeom prst="roundRect">
            <a:avLst>
              <a:gd name="adj" fmla="val 16667"/>
            </a:avLst>
          </a:prstGeom>
          <a:solidFill>
            <a:srgbClr val="4BAF5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Mensaje final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9"/>
          <p:cNvSpPr/>
          <p:nvPr/>
        </p:nvSpPr>
        <p:spPr>
          <a:xfrm>
            <a:off x="10835640" y="644652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5A6978"/>
                </a:solidFill>
                <a:effectLst/>
                <a:uFillTx/>
                <a:latin typeface="Calibri"/>
              </a:rPr>
              <a:t>6/6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400</Words>
  <Application>Microsoft Office PowerPoint</Application>
  <PresentationFormat>Panorámica</PresentationFormat>
  <Paragraphs>77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Arial</vt:lpstr>
      <vt:lpstr>Calibri</vt:lpstr>
      <vt:lpstr>Consolas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Erwin Aguilera</cp:lastModifiedBy>
  <cp:revision>1</cp:revision>
  <dcterms:modified xsi:type="dcterms:W3CDTF">2026-06-03T10:56:33Z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