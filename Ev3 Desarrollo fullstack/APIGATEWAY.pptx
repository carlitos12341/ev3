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DEB8AA9-BE80-41FF-B4FF-5DD85FDA647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40D9C-C951-4698-8A88-0E421EEDC1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B141E2-B19C-46F9-9E31-7343D33BDE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39D115-887B-4BAD-878E-216DC1D82B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E61C63-A4E0-4C4B-BF34-947A8953AA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71BD99-6A00-47C7-88E4-7CDBCFDD06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57BC46-F33D-43FA-95A0-842F14F331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474CAE-28F4-4EE4-8B4A-34C2C9B1DCF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A57B02-EF0A-44A9-9ACC-A4E06712BF8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7E83F1-48AB-475C-BE6C-DBB16D8D3F3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C3043B-DD90-4E3D-ADA5-50754DCD478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54DE04-0BF5-44D1-8CDA-30A1974DF47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a_clean_modern_isometric_flat_vector_infographic.png"/>
          <p:cNvPicPr/>
          <p:nvPr/>
        </p:nvPicPr>
        <p:blipFill>
          <a:blip r:embed="rId1"/>
          <a:srcRect l="54993" t="49994" r="-55045" b="-4999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62d">
              <a:alpha val="88000"/>
            </a:srgbClr>
          </a:solidFill>
          <a:ln w="12700">
            <a:solidFill>
              <a:srgbClr val="07162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594360" y="685800"/>
            <a:ext cx="5348880" cy="5394600"/>
          </a:xfrm>
          <a:prstGeom prst="rect">
            <a:avLst/>
          </a:prstGeom>
          <a:solidFill>
            <a:srgbClr val="07162d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868680" y="98748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8c7ff"/>
                </a:solidFill>
                <a:effectLst/>
                <a:uFillTx/>
                <a:latin typeface="Aptos"/>
              </a:rPr>
              <a:t>Tema 3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68680" y="1508760"/>
            <a:ext cx="45716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API Gateway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868680" y="3063240"/>
            <a:ext cx="3383280" cy="360"/>
          </a:xfrm>
          <a:prstGeom prst="line">
            <a:avLst/>
          </a:prstGeom>
          <a:ln w="254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68680" y="3401640"/>
            <a:ext cx="4480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Una sola puerta de entrada para varios microservicios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68680" y="516636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8c7ff"/>
                </a:solidFill>
                <a:effectLst/>
                <a:uFillTx/>
                <a:latin typeface="Aptos"/>
              </a:rPr>
              <a:t>Clase modular por tema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Ruta de aprendizaje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La idea es entender primero el concepto y luego aplicarlo al proyecto.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 0" descr="/mnt/data/a_clean_modern_isometric_flat_vector_infographic.png"/>
          <p:cNvPicPr/>
          <p:nvPr/>
        </p:nvPicPr>
        <p:blipFill>
          <a:blip r:embed="rId1"/>
          <a:stretch/>
        </p:blipFill>
        <p:spPr>
          <a:xfrm>
            <a:off x="8275320" y="777240"/>
            <a:ext cx="324576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Shape 2"/>
          <p:cNvSpPr/>
          <p:nvPr/>
        </p:nvSpPr>
        <p:spPr>
          <a:xfrm>
            <a:off x="8275320" y="777240"/>
            <a:ext cx="3245760" cy="4983120"/>
          </a:xfrm>
          <a:prstGeom prst="rect">
            <a:avLst/>
          </a:prstGeom>
          <a:solidFill>
            <a:srgbClr val="10213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49880" y="145404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49880" y="15271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298520" y="141732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Problema de exponer muchos servicios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941760" y="187452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749880" y="223128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749880" y="230436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298520" y="219456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Qué es API Gateway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941760" y="265176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749880" y="300852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749880" y="308160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298520" y="297180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Rutas, predicados y filtros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941760" y="342900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749880" y="378576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749880" y="38588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1298520" y="374904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Ejemplo simple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941760" y="420624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9"/>
          <p:cNvSpPr/>
          <p:nvPr/>
        </p:nvSpPr>
        <p:spPr>
          <a:xfrm>
            <a:off x="749880" y="456300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749880" y="463608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1298520" y="452628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Conexión con Eureka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2"/>
          <p:cNvSpPr/>
          <p:nvPr/>
        </p:nvSpPr>
        <p:spPr>
          <a:xfrm>
            <a:off x="941760" y="498348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749880" y="534024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749880" y="54133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1298520" y="530352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Aplicación al proyecto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7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El problema que resuelve Gateway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Sin Gateway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cliente debe conocer muchas URLs: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:8081 clientes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:8082 productos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:8083 pedidos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:8084 pagos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Con Gateway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cliente usa una sola entrada: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http://localhost:8080/api/clientes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http://localhost:8080/api/productos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http://localhost:8080/api/pedidos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¿Qué es API Gateway?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Definición simple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Es un microservicio que recibe las peticiones externas y las redirige al microservicio interno correcto.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Para qué sirve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Centraliza rutas, seguridad, logs, filtros, CORS y control de acceso.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Evita exponer todos los servicios directamente.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Cómo viaja una petición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Gateway no contiene la lógica de negocio; solo enruta.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152712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408744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664776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920808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480240" y="2148840"/>
            <a:ext cx="959760" cy="95976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48024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50292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Postman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50292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GET /api/clientes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304056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304056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258768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Gateway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258768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Recibe la petición en 8080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5600880" y="2148840"/>
            <a:ext cx="959760" cy="959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560088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514800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Ruta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514800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Reconoce Path=/api/clientes/**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8"/>
          <p:cNvSpPr/>
          <p:nvPr/>
        </p:nvSpPr>
        <p:spPr>
          <a:xfrm>
            <a:off x="8161200" y="2148840"/>
            <a:ext cx="959760" cy="959760"/>
          </a:xfrm>
          <a:prstGeom prst="ellipse">
            <a:avLst/>
          </a:prstGeom>
          <a:solidFill>
            <a:srgbClr val="6b5dd3"/>
          </a:solidFill>
          <a:ln w="12700">
            <a:solidFill>
              <a:srgbClr val="6b5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816120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770832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Eureka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770832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Busca CLIENTE-SERVICE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2"/>
          <p:cNvSpPr/>
          <p:nvPr/>
        </p:nvSpPr>
        <p:spPr>
          <a:xfrm>
            <a:off x="10721520" y="2148840"/>
            <a:ext cx="959760" cy="95976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3"/>
          <p:cNvSpPr/>
          <p:nvPr/>
        </p:nvSpPr>
        <p:spPr>
          <a:xfrm>
            <a:off x="1072152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1013436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Servicio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1013436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Responde datos de clientes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7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Ruta fija sin Eureka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 la teoría a nuestro proyecto de microservicios.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658440" y="1508760"/>
            <a:ext cx="5440320" cy="4343040"/>
          </a:xfrm>
          <a:prstGeom prst="roundRect">
            <a:avLst>
              <a:gd name="adj" fmla="val 1263"/>
            </a:avLst>
          </a:prstGeom>
          <a:solidFill>
            <a:srgbClr val="111827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887040" y="1737360"/>
            <a:ext cx="498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spring: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cloud: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gateway: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routes: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- id: cliente-route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  uri: http://localhost:8081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  predicates: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    - Path=/api/clientes/**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6446520" y="150876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6446520" y="1508760"/>
            <a:ext cx="5074560" cy="109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6675120" y="17647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¿Qué significa esto?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6675120" y="225864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Primero se puede explicar con una URL fija para entender el concepto de ruta.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6446520" y="373068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6446520" y="3730680"/>
            <a:ext cx="507456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6675120" y="39866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práctica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6675120" y="4480560"/>
            <a:ext cx="4617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Probar en Postman: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GET http://localhost:8080/api/clientes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Ruta dinámica con Eureka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 la teoría a nuestro proyecto de microservicios.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658440" y="1508760"/>
            <a:ext cx="5440320" cy="4343040"/>
          </a:xfrm>
          <a:prstGeom prst="roundRect">
            <a:avLst>
              <a:gd name="adj" fmla="val 1263"/>
            </a:avLst>
          </a:prstGeom>
          <a:solidFill>
            <a:srgbClr val="111827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887040" y="1737360"/>
            <a:ext cx="498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spring: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cloud: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gateway: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routes: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- id: cliente-route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  uri: lb://CLIENTE-SERVICE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  predicates: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    - Path=/api/clientes/**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  filters: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      - StripPrefix=1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6446520" y="150876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6446520" y="1508760"/>
            <a:ext cx="5074560" cy="109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6675120" y="17647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¿Qué significa esto?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6675120" y="225864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lb:// indica que Gateway buscará el servicio por Eureka y podrá balancear entre instancias.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6446520" y="373068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6446520" y="3730680"/>
            <a:ext cx="507456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6675120" y="39866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práctica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6675120" y="4480560"/>
            <a:ext cx="4617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Verificar que CLIENTE-SERVICE esté registrado en Eureka antes de probar Gateway.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Conceptos clave de Gateway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685800" y="1325880"/>
            <a:ext cx="10835280" cy="331884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685800" y="1325880"/>
            <a:ext cx="5417640" cy="685440"/>
          </a:xfrm>
          <a:prstGeom prst="rect">
            <a:avLst/>
          </a:prstGeom>
          <a:solidFill>
            <a:srgbClr val="10213f"/>
          </a:solidFill>
          <a:ln w="12700">
            <a:solidFill>
              <a:srgbClr val="1021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6103800" y="1325880"/>
            <a:ext cx="5417640" cy="68544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914400" y="1527120"/>
            <a:ext cx="496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Concepto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6332400" y="1527120"/>
            <a:ext cx="496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Explicación práctica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685800" y="2011680"/>
            <a:ext cx="10835280" cy="65808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6103440" y="2011680"/>
            <a:ext cx="360" cy="6580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914400" y="213048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Route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6332400" y="213048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Regla que indica hacia dónde enviar una petición.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6103440" y="266976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914400" y="278892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Predicate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6332400" y="278892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Condición para activar una ruta. Ejemplo: Path=/api/clientes/**.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685800" y="3328560"/>
            <a:ext cx="10835280" cy="65808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6103440" y="332820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914400" y="344736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Filter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6332400" y="344736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Acción antes o después de enrutar. Ejemplo: StripPrefix, logs, cabeceras.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6103440" y="398664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914400" y="410580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lb://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6332400" y="410580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Usa Eureka para ubicar el servicio por nombre lógico.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Aplicación en nuestro proyecto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Servicios internos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cliente-service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producto-service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pedido-service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pago-service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despacho-service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Entrada pública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api-gateway expone una sola puerta: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http://localhost:8080/api/...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Los clientes ya no necesitan conocer cada puerto.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Errores frecuentes con Gateway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Problema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Ruta mal escrita.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No coincide el Path.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Servicio no registrado en Eureka.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StripPrefix mal configurado.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Solución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Probar primero el microservicio directo.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Luego probar por Gateway.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Revisar logs del Gateway y pantalla de Eureka.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 0" descr="/mnt/data/a_clean_modern_classroom_lecture_scene_in_a_wide.png"/>
          <p:cNvPicPr/>
          <p:nvPr/>
        </p:nvPicPr>
        <p:blipFill>
          <a:blip r:embed="rId1"/>
          <a:srcRect l="54993" t="49994" r="-55045" b="-4999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62d">
              <a:alpha val="82000"/>
            </a:srgbClr>
          </a:solidFill>
          <a:ln w="12700">
            <a:solidFill>
              <a:srgbClr val="07162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685800" y="822960"/>
            <a:ext cx="5531760" cy="5257440"/>
          </a:xfrm>
          <a:prstGeom prst="roundRect">
            <a:avLst>
              <a:gd name="adj" fmla="val 1391"/>
            </a:avLst>
          </a:prstGeom>
          <a:solidFill>
            <a:srgbClr val="07162d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987480" y="1143000"/>
            <a:ext cx="4937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Cierre: API Gateway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1005840" y="2057400"/>
            <a:ext cx="480024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Gateway es la puerta principal del sistema.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Permite ocultar los puertos internos.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Con Eureka, Gateway usa nombres lógicos y no URLs fijas.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Duoc UC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2026-06-02T01:12:46Z</dcterms:created>
  <dc:creator>Material docente Fullstack I</dc:creator>
  <dc:description/>
  <dc:language>en-US</dc:language>
  <cp:lastModifiedBy>Material docente Fullstack I</cp:lastModifiedBy>
  <dcterms:modified xsi:type="dcterms:W3CDTF">2026-06-02T01:12:46Z</dcterms:modified>
  <cp:revision>1</cp:revision>
  <dc:subject>API Gateway</dc:subject>
  <dc:title>API Gateway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